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71" r:id="rId9"/>
    <p:sldId id="263" r:id="rId10"/>
    <p:sldId id="265" r:id="rId11"/>
    <p:sldId id="266" r:id="rId12"/>
    <p:sldId id="273" r:id="rId13"/>
    <p:sldId id="272" r:id="rId14"/>
    <p:sldId id="267" r:id="rId15"/>
    <p:sldId id="268" r:id="rId16"/>
    <p:sldId id="269" r:id="rId17"/>
    <p:sldId id="270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1656" y="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63B1A-2BBA-889F-CF70-1ECFB4840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1DF987-8070-6FA1-E189-9AD20E73D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072D7-65A4-B428-6919-B53A38BD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815D9A-D305-EA66-E544-E3FE33D3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82C4BE-817C-125B-C557-39EAB806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33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CCF20-DB75-78AA-C6F3-DD639794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36241D-6A18-A5BC-E976-1181E894C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359"/>
            <a:ext cx="10515600" cy="45916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CA70F-E19E-C618-423D-9FAA6B19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958C0-C97C-FF2D-7A1D-60896B84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DE724-8B9D-9DBA-72FE-AA35F186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690FE48-3C0A-7D19-BF34-0E761E98C886}"/>
              </a:ext>
            </a:extLst>
          </p:cNvPr>
          <p:cNvCxnSpPr/>
          <p:nvPr userDrawn="1"/>
        </p:nvCxnSpPr>
        <p:spPr>
          <a:xfrm>
            <a:off x="838200" y="1407226"/>
            <a:ext cx="10515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26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E8AE8-8153-5E00-56BC-52AE597C5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4124E2-6BE6-016F-E9D8-BB3444AF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FACB72-882D-3E0F-E691-6CB2B1E00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2911F4-6BD2-CD2F-6D67-7D46BA82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47A176-D8D3-6497-CB4D-B9E10368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01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4F23E-1055-713A-D2DF-F4467497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0D66C-0F88-41D1-DCE2-C084B9100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49C2CA-E5F4-8654-4D56-F76F6869C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CFE92E-C8B5-B5DD-BCF2-B788D1D1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840D56-2AC0-A5DA-C3A6-C91C257A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39F1F-1F7E-D895-F914-14CDC63E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31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66AD6-BC8D-7D35-E66B-40B9A003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15F0F-BDAE-C92A-E2C4-1C0F9BC5A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7DAE8C-5CAE-6F46-9124-16004DA5E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259785-8F50-592D-FFF7-CBD934864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FD38C4-0240-CE21-4295-0CD511BF7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D29E23-DA2F-3C77-276A-12A28E23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AF79E-3D86-60D1-EC29-6E3A2CEE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D07027-C7E4-19AB-9C95-3819DE8E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82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DDE34-BABB-8CCE-40EB-F77E8EC7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BD6436-4BE4-8DC8-0CFD-03A64591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971D1F-F27F-B476-8159-922F642E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C1346F-9EA6-2E7B-23B9-ED3E8136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85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CDCF5F-36C9-5A76-75FF-89578567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6607AA-6B3B-9B91-F10D-6D429E69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9B69E-AD6B-EF9E-DF32-7DC8A55E5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31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14FA8-CC5E-4459-60E7-049A92E9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4E4B7-400E-3989-D965-B0E48CBD7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71BA9B-2684-DFE4-E08A-8756CA915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1C906A-5846-D440-1C3F-D6C557FF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494F0-E29E-9D9D-03D0-70E489F8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818335-7D50-7C8A-9DD8-7F9D18D3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59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E8E9E-CB56-FEC6-98CD-F5722274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E06C7A-480F-766F-8E4D-8B7996F18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D610BE-06B8-3FB1-5AFA-8A39F9181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30F6CF-1C78-1924-833D-59829852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468C52-2D98-DDE6-7790-1748E830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76F76-F57A-EB5A-24B3-65724D3A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93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AA0D0-46E7-A2AB-22DB-D8E15E28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2F3B2E-902D-C428-59B1-EC6F097D8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3BBF8-33C5-B1DB-7CD1-1CB2CF9B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90BA9E-505B-FEF0-E774-7C822DB9B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2C528-284E-4F5C-6114-6C9C5921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14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3FF494-25CB-8E0C-C4D0-E5592F495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75FA4D-DC03-CBB5-2356-D9EDC4DAF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FCE8E2-522B-F68F-7AA9-B67BB75B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FDD28-EA29-50C5-8BFE-AB127908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69264-0BC0-1B8A-C9D9-634070FA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587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186EA-7E71-EFAE-EB86-473CCAC1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A81ACC-AB53-D227-7DF9-4D833F8AC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C74CD6-3C6A-DCF0-0EBB-B5240FDA4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E19A7-0304-4ED8-B8A4-5669DD615F2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74ECB-32A8-808D-4116-74DDDACDB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1168F-E41B-1443-CCAE-A77F9DDA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3896D-D187-4696-AF75-81F5A4B46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51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amu.wiki/w/%EC%8A%A4%ED%94%8C%EB%A0%8C%EB%8D%94#s-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A391B-A3F9-1774-DEE1-F9D8EBA16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알고리즘별 리스크 성향에 기반한 게임 전략 추출</a:t>
            </a:r>
            <a:r>
              <a:rPr lang="en-US" altLang="ko-KR" sz="3000" dirty="0"/>
              <a:t>:</a:t>
            </a:r>
            <a:br>
              <a:rPr lang="en-US" altLang="ko-KR" sz="3000" dirty="0"/>
            </a:br>
            <a:r>
              <a:rPr lang="en-US" altLang="ko-KR" sz="3000" dirty="0"/>
              <a:t>On-Policy VS Off-Policy</a:t>
            </a:r>
            <a:endParaRPr lang="ko-KR" altLang="en-US" sz="3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EFB603-9DFB-1CE0-EBA6-7C2F6D479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Splendor </a:t>
            </a:r>
            <a:r>
              <a:rPr lang="ko-KR" altLang="en-US" dirty="0"/>
              <a:t>환경에서의 </a:t>
            </a:r>
            <a:r>
              <a:rPr lang="en-US" altLang="ko-KR" dirty="0"/>
              <a:t>PPO</a:t>
            </a:r>
            <a:r>
              <a:rPr lang="ko-KR" altLang="en-US" dirty="0"/>
              <a:t>와 </a:t>
            </a:r>
            <a:r>
              <a:rPr lang="en-US" altLang="ko-KR" dirty="0"/>
              <a:t>DQN</a:t>
            </a:r>
            <a:r>
              <a:rPr lang="ko-KR" altLang="en-US" dirty="0"/>
              <a:t>의 전략적 행동 패턴 분석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8665F-F9A1-6286-70B9-BE7A431BED47}"/>
              </a:ext>
            </a:extLst>
          </p:cNvPr>
          <p:cNvSpPr txBox="1"/>
          <p:nvPr/>
        </p:nvSpPr>
        <p:spPr>
          <a:xfrm>
            <a:off x="6406938" y="4082205"/>
            <a:ext cx="35839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20241584 </a:t>
            </a:r>
            <a:r>
              <a:rPr lang="ko-KR" altLang="en-US" dirty="0"/>
              <a:t>김태윤</a:t>
            </a:r>
            <a:br>
              <a:rPr lang="en-US" altLang="ko-KR" dirty="0"/>
            </a:br>
            <a:r>
              <a:rPr lang="en-US" altLang="ko-KR" sz="1200" dirty="0"/>
              <a:t>https://github.com/TeynK/CSEG516_RL.git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1095B2C-0602-5638-54BE-4D0838E5544A}"/>
              </a:ext>
            </a:extLst>
          </p:cNvPr>
          <p:cNvCxnSpPr/>
          <p:nvPr/>
        </p:nvCxnSpPr>
        <p:spPr>
          <a:xfrm>
            <a:off x="1663103" y="4068424"/>
            <a:ext cx="87696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503BD-D752-E36A-338C-992E7930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F9547-C751-7F6F-1A84-B8176D42C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On-Policy</a:t>
            </a:r>
            <a:r>
              <a:rPr lang="ko-KR" altLang="en-US" dirty="0"/>
              <a:t>와 </a:t>
            </a:r>
            <a:r>
              <a:rPr lang="en-US" altLang="ko-KR" dirty="0"/>
              <a:t>Off-Policy</a:t>
            </a:r>
            <a:r>
              <a:rPr lang="ko-KR" altLang="en-US" dirty="0"/>
              <a:t>의 구분은 탐험 정책</a:t>
            </a:r>
            <a:r>
              <a:rPr lang="en-US" altLang="ko-KR" dirty="0"/>
              <a:t>(Behavior Policy)</a:t>
            </a:r>
            <a:r>
              <a:rPr lang="ko-KR" altLang="en-US" dirty="0"/>
              <a:t>와 학습 정책</a:t>
            </a:r>
            <a:r>
              <a:rPr lang="en-US" altLang="ko-KR" dirty="0"/>
              <a:t>(Target Policy)</a:t>
            </a:r>
            <a:r>
              <a:rPr lang="ko-KR" altLang="en-US" dirty="0"/>
              <a:t>의 분리 여부에 기인한다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On-Policy: </a:t>
            </a:r>
            <a:r>
              <a:rPr lang="ko-KR" altLang="en-US" dirty="0"/>
              <a:t>현재 정책의 확률적 탐험 요소를 포함하여 기대 이득을 계산하므로</a:t>
            </a:r>
            <a:r>
              <a:rPr lang="en-US" altLang="ko-KR" dirty="0"/>
              <a:t>, </a:t>
            </a:r>
            <a:r>
              <a:rPr lang="ko-KR" altLang="en-US" dirty="0"/>
              <a:t>리스크가 큰 행동을 회피하고 안정적인 경로를 선호하는 </a:t>
            </a:r>
            <a:r>
              <a:rPr lang="en-US" altLang="ko-KR" dirty="0"/>
              <a:t>Risk-Averse </a:t>
            </a:r>
            <a:r>
              <a:rPr lang="ko-KR" altLang="en-US" dirty="0"/>
              <a:t>특성을 보인다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Off-Policy: </a:t>
            </a:r>
            <a:r>
              <a:rPr lang="ko-KR" altLang="en-US" dirty="0"/>
              <a:t>탐험 중 발생한 리스크와 무관하게 이론상 최적의 가치 함수를 추정하려 하므로</a:t>
            </a:r>
            <a:r>
              <a:rPr lang="en-US" altLang="ko-KR" dirty="0"/>
              <a:t>, </a:t>
            </a:r>
            <a:r>
              <a:rPr lang="ko-KR" altLang="en-US" dirty="0"/>
              <a:t>실패 가능성이 있더라도 보상이 높은 경로를 선택하는 </a:t>
            </a:r>
            <a:r>
              <a:rPr lang="en-US" altLang="ko-KR" dirty="0"/>
              <a:t>Risk-Seeking </a:t>
            </a:r>
            <a:r>
              <a:rPr lang="ko-KR" altLang="en-US" dirty="0"/>
              <a:t>특성을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28" name="Picture 4" descr="Sarsa Agent">
            <a:extLst>
              <a:ext uri="{FF2B5EF4-FFF2-40B4-BE49-F238E27FC236}">
                <a16:creationId xmlns:a16="http://schemas.microsoft.com/office/drawing/2014/main" id="{35EE7AB7-86D5-AB3A-DB09-59A7DFA1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094" y="5081038"/>
            <a:ext cx="3972393" cy="132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Q-Learning Agent">
            <a:extLst>
              <a:ext uri="{FF2B5EF4-FFF2-40B4-BE49-F238E27FC236}">
                <a16:creationId xmlns:a16="http://schemas.microsoft.com/office/drawing/2014/main" id="{DF4003BE-851E-4391-D10A-5E879DF8F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513" y="5081038"/>
            <a:ext cx="3972393" cy="132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907AE5-1AAD-E05F-052E-6F704EE31478}"/>
              </a:ext>
            </a:extLst>
          </p:cNvPr>
          <p:cNvSpPr txBox="1"/>
          <p:nvPr/>
        </p:nvSpPr>
        <p:spPr>
          <a:xfrm>
            <a:off x="2503357" y="6475751"/>
            <a:ext cx="7412636" cy="38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Cliff-Walking</a:t>
            </a:r>
            <a:r>
              <a:rPr lang="ko-KR" altLang="en-US" dirty="0"/>
              <a:t>에서의 </a:t>
            </a:r>
            <a:r>
              <a:rPr lang="en-US" altLang="ko-KR" dirty="0"/>
              <a:t>On-Policy</a:t>
            </a:r>
            <a:r>
              <a:rPr lang="ko-KR" altLang="en-US" dirty="0"/>
              <a:t>와 </a:t>
            </a:r>
            <a:r>
              <a:rPr lang="en-US" altLang="ko-KR" dirty="0"/>
              <a:t>Off-Policy</a:t>
            </a:r>
            <a:r>
              <a:rPr lang="ko-KR" altLang="en-US" dirty="0"/>
              <a:t>의 행동</a:t>
            </a:r>
          </a:p>
        </p:txBody>
      </p:sp>
    </p:spTree>
    <p:extLst>
      <p:ext uri="{BB962C8B-B14F-4D97-AF65-F5344CB8AC3E}">
        <p14:creationId xmlns:p14="http://schemas.microsoft.com/office/powerpoint/2010/main" val="2823788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74146-4960-E824-08C7-5003F112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Hypothesis and</a:t>
            </a:r>
            <a:r>
              <a:rPr lang="ko-KR" altLang="en-US" dirty="0"/>
              <a:t> </a:t>
            </a:r>
            <a:r>
              <a:rPr lang="en-US" altLang="ko-KR" dirty="0"/>
              <a:t>Theoretical Background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6E1161-DC58-1A7F-1155-BE24A75756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만약 두 알고리즘이 동일한 환경에서 서로 다른 최적 정책으로 수렴한다면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 차이는 해당 환경 내 전략의 </a:t>
                </a:r>
                <a:r>
                  <a:rPr lang="en-US" altLang="ko-KR" dirty="0"/>
                  <a:t>Risk Profile</a:t>
                </a:r>
                <a:r>
                  <a:rPr lang="ko-KR" altLang="en-US" dirty="0"/>
                  <a:t>을 대변할 것이다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PPO(On-Policy)</a:t>
                </a:r>
              </a:p>
              <a:p>
                <a:pPr lvl="1"/>
                <a:r>
                  <a:rPr lang="ko-KR" altLang="en-US" dirty="0"/>
                  <a:t>핵심 기제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𝐶𝐿𝐼𝑃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̌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𝑐𝑙𝑖𝑝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,1−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,1+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̌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/>
                  <a:t>원리</a:t>
                </a:r>
                <a:r>
                  <a:rPr lang="en-US" altLang="ko-KR" dirty="0"/>
                  <a:t>: Clipping</a:t>
                </a:r>
                <a:r>
                  <a:rPr lang="ko-KR" altLang="en-US" dirty="0"/>
                  <a:t>은 급격한 정책 변경을 제한하며 보수적 업데이트를 수행하며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탐험 과정의 리스크를 기대 보상에 직접 반영하여 안정적인 경로를 선호함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r>
                  <a:rPr lang="en-US" altLang="ko-KR" dirty="0"/>
                  <a:t>Vanilla DQN(Off-Policy)</a:t>
                </a:r>
              </a:p>
              <a:p>
                <a:pPr lvl="1"/>
                <a:r>
                  <a:rPr lang="ko-KR" altLang="en-US" dirty="0"/>
                  <a:t>핵심 기제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limLow>
                      <m:limLow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li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b="0" dirty="0"/>
              </a:p>
              <a:p>
                <a:pPr lvl="1"/>
                <a:r>
                  <a:rPr lang="ko-KR" altLang="en-US" dirty="0"/>
                  <a:t>원리</a:t>
                </a:r>
                <a:r>
                  <a:rPr lang="en-US" altLang="ko-KR" dirty="0"/>
                  <a:t>: max </a:t>
                </a:r>
                <a:r>
                  <a:rPr lang="ko-KR" altLang="en-US" dirty="0"/>
                  <a:t>연산자는 최대화 편향을 유발하여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분산이 큰 고위험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고수익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행동을 실제보다 높게 평가하는 경향이 있음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b="0" dirty="0"/>
                  <a:t>위 두 알고리즘의 특성을 토대로</a:t>
                </a:r>
                <a:r>
                  <a:rPr lang="en-US" altLang="ko-KR" b="0" dirty="0"/>
                  <a:t>, Splendor</a:t>
                </a:r>
                <a:r>
                  <a:rPr lang="ko-KR" altLang="en-US" b="0" dirty="0"/>
                  <a:t>에서 </a:t>
                </a:r>
                <a:r>
                  <a:rPr lang="en-US" altLang="ko-KR" dirty="0"/>
                  <a:t>Risk-Averse/Seeking </a:t>
                </a:r>
                <a:r>
                  <a:rPr lang="ko-KR" altLang="en-US" dirty="0"/>
                  <a:t>정책을 추출할 수 있는가</a:t>
                </a:r>
                <a:r>
                  <a:rPr lang="en-US" altLang="ko-KR" dirty="0"/>
                  <a:t>?</a:t>
                </a:r>
                <a:endParaRPr lang="en-US" altLang="ko-KR" b="0" dirty="0"/>
              </a:p>
              <a:p>
                <a:pPr lvl="1"/>
                <a:endParaRPr lang="en-US" altLang="ko-KR" b="0" dirty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6E1161-DC58-1A7F-1155-BE24A7575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59" r="-1101" b="-159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01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0AE41-6E69-1719-B2C4-4AD462B5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Setup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4D9077-D0EA-7EE2-58B5-EB7642A6F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359"/>
            <a:ext cx="10586987" cy="4591604"/>
          </a:xfrm>
        </p:spPr>
        <p:txBody>
          <a:bodyPr/>
          <a:lstStyle/>
          <a:p>
            <a:r>
              <a:rPr lang="en-US" altLang="ko-KR" dirty="0"/>
              <a:t>Target Environment: Splendor (2-Player)</a:t>
            </a:r>
          </a:p>
          <a:p>
            <a:pPr lvl="1"/>
            <a:r>
              <a:rPr lang="ko-KR" altLang="en-US" dirty="0"/>
              <a:t>개요</a:t>
            </a:r>
            <a:r>
              <a:rPr lang="en-US" altLang="ko-KR" dirty="0"/>
              <a:t>: </a:t>
            </a:r>
            <a:r>
              <a:rPr lang="ko-KR" altLang="en-US" dirty="0"/>
              <a:t>보석 토큰을 모아 개발 카드를 구매하고</a:t>
            </a:r>
            <a:r>
              <a:rPr lang="en-US" altLang="ko-KR" dirty="0"/>
              <a:t>, </a:t>
            </a:r>
            <a:r>
              <a:rPr lang="ko-KR" altLang="en-US" dirty="0"/>
              <a:t>점수를 쌓아 먼저 </a:t>
            </a:r>
            <a:r>
              <a:rPr lang="en-US" altLang="ko-KR" dirty="0"/>
              <a:t>15</a:t>
            </a:r>
            <a:r>
              <a:rPr lang="ko-KR" altLang="en-US" dirty="0"/>
              <a:t>점 이상을 획득하는 사람이 승리하는 전략 보드게임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선정 이유</a:t>
            </a:r>
            <a:r>
              <a:rPr lang="en-US" altLang="ko-KR" dirty="0"/>
              <a:t>: </a:t>
            </a:r>
            <a:r>
              <a:rPr lang="ko-KR" altLang="en-US" dirty="0"/>
              <a:t>카드 </a:t>
            </a:r>
            <a:r>
              <a:rPr lang="ko-KR" altLang="en-US" dirty="0" err="1"/>
              <a:t>덱에서</a:t>
            </a:r>
            <a:r>
              <a:rPr lang="ko-KR" altLang="en-US" dirty="0"/>
              <a:t> 어떤 카드가 나올지 모르는 불확실성이 존재하여 리스크 감수 성향 분석에 적합함</a:t>
            </a:r>
            <a:r>
              <a:rPr lang="en-US" altLang="ko-KR" dirty="0"/>
              <a:t>, </a:t>
            </a:r>
            <a:r>
              <a:rPr lang="ko-KR" altLang="en-US" dirty="0"/>
              <a:t>또한 단기적 이득과 장기적 투자 사이의 </a:t>
            </a:r>
            <a:r>
              <a:rPr lang="en-US" altLang="ko-KR" dirty="0"/>
              <a:t>Trade-Off</a:t>
            </a:r>
            <a:r>
              <a:rPr lang="ko-KR" altLang="en-US" dirty="0"/>
              <a:t>가 명확함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자세한 규칙은 </a:t>
            </a:r>
            <a:r>
              <a:rPr lang="ko-KR" altLang="en-US" dirty="0">
                <a:hlinkClick r:id="rId2"/>
              </a:rPr>
              <a:t>해당 링크</a:t>
            </a:r>
            <a:r>
              <a:rPr lang="ko-KR" altLang="en-US" dirty="0"/>
              <a:t>에서 확인 가능함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Environment Framework</a:t>
            </a:r>
          </a:p>
          <a:p>
            <a:pPr lvl="1"/>
            <a:r>
              <a:rPr lang="en-US" altLang="ko-KR" dirty="0"/>
              <a:t>Simulator: </a:t>
            </a:r>
            <a:r>
              <a:rPr lang="en-US" altLang="ko-KR" dirty="0" err="1"/>
              <a:t>PettingZoo</a:t>
            </a:r>
            <a:r>
              <a:rPr lang="en-US" altLang="ko-KR" dirty="0"/>
              <a:t> </a:t>
            </a:r>
            <a:r>
              <a:rPr lang="ko-KR" altLang="en-US" dirty="0"/>
              <a:t>기반의 </a:t>
            </a:r>
            <a:r>
              <a:rPr lang="en-US" altLang="ko-KR" dirty="0"/>
              <a:t>Splendor AEC </a:t>
            </a:r>
            <a:r>
              <a:rPr lang="ko-KR" altLang="en-US" dirty="0"/>
              <a:t>환경을 사용함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Wrapper: Gymnasium </a:t>
            </a:r>
            <a:r>
              <a:rPr lang="ko-KR" altLang="en-US" dirty="0"/>
              <a:t>인터페이스 호환을 위한 커스텀 래퍼</a:t>
            </a:r>
            <a:r>
              <a:rPr lang="en-US" altLang="ko-KR" dirty="0"/>
              <a:t>(</a:t>
            </a:r>
            <a:r>
              <a:rPr lang="en-US" altLang="ko-KR" dirty="0" err="1"/>
              <a:t>SplendorGymWrapper</a:t>
            </a:r>
            <a:r>
              <a:rPr lang="en-US" altLang="ko-KR" dirty="0"/>
              <a:t>)</a:t>
            </a:r>
            <a:r>
              <a:rPr lang="ko-KR" altLang="en-US" dirty="0"/>
              <a:t>구현</a:t>
            </a:r>
            <a:endParaRPr lang="en-US" altLang="ko-KR" dirty="0"/>
          </a:p>
          <a:p>
            <a:r>
              <a:rPr lang="en-US" altLang="ko-KR" dirty="0"/>
              <a:t>Dynamic Opponent</a:t>
            </a:r>
          </a:p>
          <a:p>
            <a:pPr lvl="1"/>
            <a:r>
              <a:rPr lang="ko-KR" altLang="en-US" dirty="0"/>
              <a:t>고정된 상대를 사용하는 대신</a:t>
            </a:r>
            <a:r>
              <a:rPr lang="en-US" altLang="ko-KR" dirty="0"/>
              <a:t>, </a:t>
            </a:r>
            <a:r>
              <a:rPr lang="ko-KR" altLang="en-US" dirty="0"/>
              <a:t>다양한 전략적 성향을 가진 휴리스틱 봇을 상대로 학습을 진행</a:t>
            </a:r>
            <a:endParaRPr lang="en-US" altLang="ko-KR" dirty="0"/>
          </a:p>
          <a:p>
            <a:pPr lvl="1"/>
            <a:r>
              <a:rPr lang="ko-KR" altLang="en-US" dirty="0"/>
              <a:t>특정 패턴에 </a:t>
            </a:r>
            <a:r>
              <a:rPr lang="ko-KR" altLang="en-US" dirty="0" err="1"/>
              <a:t>과적합되는</a:t>
            </a:r>
            <a:r>
              <a:rPr lang="ko-KR" altLang="en-US" dirty="0"/>
              <a:t> 것을 방지하고 에이전트가 다양한 상황에 대응하도록 유도함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438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FC4AA-16FF-D4D1-2BD4-F5A7F94F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Setup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68D7B5-6F4C-9A92-0A9C-6EBB180732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State &amp; Action Space</a:t>
                </a:r>
              </a:p>
              <a:p>
                <a:pPr lvl="1"/>
                <a:r>
                  <a:rPr lang="en-US" altLang="ko-KR" dirty="0"/>
                  <a:t>Observation: </a:t>
                </a:r>
                <a:r>
                  <a:rPr lang="ko-KR" altLang="en-US" dirty="0"/>
                  <a:t>게임 보드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카드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귀족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토큰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와 플레이어 상태를 </a:t>
                </a:r>
                <a:r>
                  <a:rPr lang="ko-KR" altLang="en-US" dirty="0" err="1"/>
                  <a:t>벡터화하여</a:t>
                </a:r>
                <a:r>
                  <a:rPr lang="ko-KR" altLang="en-US" dirty="0"/>
                  <a:t> 입력</a:t>
                </a:r>
              </a:p>
              <a:p>
                <a:pPr lvl="1"/>
                <a:r>
                  <a:rPr lang="en-US" altLang="ko-KR" dirty="0"/>
                  <a:t>Action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Masking:</a:t>
                </a:r>
                <a:r>
                  <a:rPr lang="ko-KR" altLang="en-US" dirty="0"/>
                  <a:t> 룰 기반의 </a:t>
                </a:r>
                <a:r>
                  <a:rPr lang="en-US" altLang="ko-KR" dirty="0"/>
                  <a:t>Action Mask</a:t>
                </a:r>
                <a:r>
                  <a:rPr lang="ko-KR" altLang="en-US" dirty="0"/>
                  <a:t>를 관측 공간에 포함하여 제공</a:t>
                </a:r>
                <a:r>
                  <a:rPr lang="en-US" altLang="ko-KR" dirty="0"/>
                  <a:t>, Maskable DQN/PPO</a:t>
                </a:r>
                <a:r>
                  <a:rPr lang="ko-KR" altLang="en-US" dirty="0"/>
                  <a:t>를 사용하여 유효하지 않은 행동을 원천 차단함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Reward Function</a:t>
                </a:r>
              </a:p>
              <a:p>
                <a:pPr lvl="1"/>
                <a:r>
                  <a:rPr lang="en-US" altLang="ko-KR" dirty="0"/>
                  <a:t>Sparse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Reward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Scheme: </a:t>
                </a:r>
                <a:r>
                  <a:rPr lang="ko-KR" altLang="en-US" dirty="0"/>
                  <a:t>승리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패배 각각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ko-KR" altLang="en-US" dirty="0"/>
                  <a:t>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강제 무승부시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점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ko-KR" altLang="en-US" dirty="0"/>
                  <a:t>행위에 따른 중간 보상을 제거하여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각 알고리즘이 개입 없이 리스크 지향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회피적 전략을 찾아갈 수 있도록 통제함</a:t>
                </a:r>
                <a:endParaRPr lang="en-US" altLang="ko-KR" dirty="0"/>
              </a:p>
              <a:p>
                <a:r>
                  <a:rPr lang="en-US" altLang="ko-KR" dirty="0"/>
                  <a:t>Train Setup</a:t>
                </a:r>
              </a:p>
              <a:p>
                <a:pPr lvl="1"/>
                <a:r>
                  <a:rPr lang="ko-KR" altLang="en-US" dirty="0"/>
                  <a:t>게임을 병렬로 돌려 학습 속도를 빠르게 하였으며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매 게임마다 봇의 특성 및 선공을 무작위로 결정하여 과적합을 방지함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68D7B5-6F4C-9A92-0A9C-6EBB180732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59" r="-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43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F819C-FB5C-1FF8-C24C-E6F2C5AE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Configuration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C044C6-AC62-B9B3-90BB-E9A1FAA4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Vanilla DQN: DQN</a:t>
            </a:r>
            <a:r>
              <a:rPr lang="ko-KR" altLang="en-US" dirty="0"/>
              <a:t>의 구조적 편향을 인위적으로 보존</a:t>
            </a:r>
            <a:r>
              <a:rPr lang="en-US" altLang="ko-KR" dirty="0"/>
              <a:t>, </a:t>
            </a:r>
            <a:r>
              <a:rPr lang="ko-KR" altLang="en-US" dirty="0"/>
              <a:t>리스크 추구 성향 극대화</a:t>
            </a:r>
            <a:endParaRPr lang="en-US" altLang="ko-KR" dirty="0"/>
          </a:p>
          <a:p>
            <a:pPr lvl="1"/>
            <a:r>
              <a:rPr lang="en-US" altLang="ko-KR" dirty="0" err="1"/>
              <a:t>Num_cpu</a:t>
            </a:r>
            <a:r>
              <a:rPr lang="en-US" altLang="ko-KR" dirty="0"/>
              <a:t>: </a:t>
            </a:r>
            <a:r>
              <a:rPr lang="ko-KR" altLang="en-US" dirty="0"/>
              <a:t>학습 속도를 위해 병렬 학습을 진행할 코어를 설정함</a:t>
            </a:r>
            <a:endParaRPr lang="en-US" altLang="ko-KR" dirty="0"/>
          </a:p>
          <a:p>
            <a:pPr lvl="1"/>
            <a:r>
              <a:rPr lang="en-US" altLang="ko-KR" dirty="0"/>
              <a:t>Hard Update(tau:</a:t>
            </a:r>
            <a:r>
              <a:rPr lang="ko-KR" altLang="en-US" dirty="0"/>
              <a:t> </a:t>
            </a:r>
            <a:r>
              <a:rPr lang="en-US" altLang="ko-KR" dirty="0"/>
              <a:t>1.0):</a:t>
            </a:r>
            <a:r>
              <a:rPr lang="ko-KR" altLang="en-US" dirty="0"/>
              <a:t> </a:t>
            </a:r>
            <a:r>
              <a:rPr lang="en-US" altLang="ko-KR" dirty="0"/>
              <a:t>Target Network</a:t>
            </a:r>
            <a:r>
              <a:rPr lang="ko-KR" altLang="en-US" dirty="0"/>
              <a:t>를 서서히 업데이트하지 않고 특정 주기마다 값을 통째로 덮어씌움</a:t>
            </a:r>
            <a:r>
              <a:rPr lang="en-US" altLang="ko-KR" dirty="0"/>
              <a:t>. </a:t>
            </a:r>
            <a:r>
              <a:rPr lang="ko-KR" altLang="en-US" dirty="0"/>
              <a:t>서서히 업데이트를 한다면 조금씩 편향이 희석되지만</a:t>
            </a:r>
            <a:r>
              <a:rPr lang="en-US" altLang="ko-KR" dirty="0"/>
              <a:t>, Hard Update</a:t>
            </a:r>
            <a:r>
              <a:rPr lang="ko-KR" altLang="en-US" dirty="0"/>
              <a:t>를 하면 해당 </a:t>
            </a:r>
            <a:r>
              <a:rPr lang="en-US" altLang="ko-KR" dirty="0"/>
              <a:t>Target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  <a:r>
              <a:rPr lang="ko-KR" altLang="en-US" dirty="0"/>
              <a:t>를 정답으로 </a:t>
            </a:r>
            <a:r>
              <a:rPr lang="ko-KR" altLang="en-US" dirty="0" err="1"/>
              <a:t>확정시켜</a:t>
            </a:r>
            <a:r>
              <a:rPr lang="ko-KR" altLang="en-US" dirty="0"/>
              <a:t> 편향을 유지시킨다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Long Period(interval: 2000): </a:t>
            </a:r>
            <a:r>
              <a:rPr lang="ko-KR" altLang="en-US" dirty="0"/>
              <a:t>과대평가는 일시적인 노이즈에 불과하지만</a:t>
            </a:r>
            <a:r>
              <a:rPr lang="en-US" altLang="ko-KR" dirty="0"/>
              <a:t>, </a:t>
            </a:r>
            <a:r>
              <a:rPr lang="ko-KR" altLang="en-US" dirty="0"/>
              <a:t>긴 업데이트 주기는 이 노이즈를 정답으로 변환시킨다</a:t>
            </a:r>
            <a:r>
              <a:rPr lang="en-US" altLang="ko-KR" dirty="0"/>
              <a:t>. </a:t>
            </a:r>
            <a:r>
              <a:rPr lang="ko-KR" altLang="en-US" dirty="0"/>
              <a:t>짧아 보일 수 있지만 이는 </a:t>
            </a:r>
            <a:r>
              <a:rPr lang="en-US" altLang="ko-KR" dirty="0" err="1"/>
              <a:t>Num_cpu</a:t>
            </a:r>
            <a:r>
              <a:rPr lang="ko-KR" altLang="en-US" dirty="0"/>
              <a:t>에 의해 훨씬 긴 값을 가지게 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Experience Retention(</a:t>
            </a:r>
            <a:r>
              <a:rPr lang="en-US" altLang="ko-KR" dirty="0" err="1"/>
              <a:t>buffer_size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1000000):</a:t>
            </a:r>
            <a:r>
              <a:rPr lang="ko-KR" altLang="en-US" dirty="0"/>
              <a:t> 많은 경험을 두어 학습을 용이하게 함</a:t>
            </a:r>
            <a:endParaRPr lang="en-US" altLang="ko-KR" dirty="0"/>
          </a:p>
          <a:p>
            <a:pPr lvl="1"/>
            <a:r>
              <a:rPr lang="en-US" altLang="ko-KR" dirty="0"/>
              <a:t>Exploration Strategy: </a:t>
            </a:r>
            <a:r>
              <a:rPr lang="ko-KR" altLang="en-US" dirty="0"/>
              <a:t>초반에는 전부 무작위 탐험을 하다가</a:t>
            </a:r>
            <a:r>
              <a:rPr lang="en-US" altLang="ko-KR" dirty="0"/>
              <a:t>, </a:t>
            </a:r>
            <a:r>
              <a:rPr lang="ko-KR" altLang="en-US" dirty="0"/>
              <a:t>일정 횟수가 지나면 </a:t>
            </a:r>
            <a:r>
              <a:rPr lang="en-US" altLang="ko-KR" dirty="0"/>
              <a:t>0.05</a:t>
            </a:r>
            <a:r>
              <a:rPr lang="ko-KR" altLang="en-US" dirty="0"/>
              <a:t>의 확률로 무작위 행동을 하도록 반영함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Allow bold modification(</a:t>
            </a:r>
            <a:r>
              <a:rPr lang="en-US" altLang="ko-KR" dirty="0" err="1"/>
              <a:t>max_grad_norm</a:t>
            </a:r>
            <a:r>
              <a:rPr lang="en-US" altLang="ko-KR" dirty="0"/>
              <a:t>: 10): </a:t>
            </a:r>
            <a:r>
              <a:rPr lang="ko-KR" altLang="en-US" dirty="0"/>
              <a:t>네트워크를 대폭 수정하여 즉각적으로 반응하도록 유도함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Policy_kwargs</a:t>
            </a:r>
            <a:r>
              <a:rPr lang="en-US" altLang="ko-KR" dirty="0"/>
              <a:t>: </a:t>
            </a:r>
            <a:r>
              <a:rPr lang="ko-KR" altLang="en-US" dirty="0"/>
              <a:t>신경망 구조를 크게 잡아 많은 경우를 담을 수 있도록 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4189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A7372-70BF-F48C-301C-2E77FE39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Configuration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6F5531-6C23-45A0-BBB9-CE6512EF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PPO: </a:t>
            </a:r>
            <a:r>
              <a:rPr lang="ko-KR" altLang="en-US" dirty="0"/>
              <a:t>불확실성 제어를 통한 안정성 유도</a:t>
            </a:r>
            <a:r>
              <a:rPr lang="en-US" altLang="ko-KR" dirty="0"/>
              <a:t>, </a:t>
            </a:r>
            <a:r>
              <a:rPr lang="ko-KR" altLang="en-US" dirty="0"/>
              <a:t>리스크 회피 성향 최대화</a:t>
            </a:r>
            <a:endParaRPr lang="en-US" altLang="ko-KR" dirty="0"/>
          </a:p>
          <a:p>
            <a:pPr lvl="1"/>
            <a:r>
              <a:rPr lang="en-US" altLang="ko-KR" dirty="0" err="1"/>
              <a:t>Num_cpu</a:t>
            </a:r>
            <a:r>
              <a:rPr lang="en-US" altLang="ko-KR" dirty="0"/>
              <a:t>: </a:t>
            </a:r>
            <a:r>
              <a:rPr lang="ko-KR" altLang="en-US" dirty="0"/>
              <a:t>학습 속도를 위해 병렬 학습을 진행할 코어를 설정함</a:t>
            </a:r>
            <a:endParaRPr lang="en-US" altLang="ko-KR" dirty="0"/>
          </a:p>
          <a:p>
            <a:pPr lvl="1"/>
            <a:r>
              <a:rPr lang="en-US" altLang="ko-KR" dirty="0"/>
              <a:t>Conservative Policy Update(</a:t>
            </a:r>
            <a:r>
              <a:rPr lang="en-US" altLang="ko-KR" dirty="0" err="1"/>
              <a:t>clip_range</a:t>
            </a:r>
            <a:r>
              <a:rPr lang="en-US" altLang="ko-KR" dirty="0"/>
              <a:t>: 0.2): </a:t>
            </a:r>
            <a:r>
              <a:rPr lang="ko-KR" altLang="en-US" dirty="0"/>
              <a:t>정책 업데이트 시에 새로운 확률이 기존 확률의 </a:t>
            </a:r>
            <a:r>
              <a:rPr lang="en-US" altLang="ko-KR" dirty="0"/>
              <a:t>0.8~1.2</a:t>
            </a:r>
            <a:r>
              <a:rPr lang="ko-KR" altLang="en-US" dirty="0"/>
              <a:t>배 범위를 벗어나면 그 이상의 변경을 무시함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Stable Learning Horizon(</a:t>
            </a:r>
            <a:r>
              <a:rPr lang="en-US" altLang="ko-KR" dirty="0" err="1"/>
              <a:t>n_steps</a:t>
            </a:r>
            <a:r>
              <a:rPr lang="en-US" altLang="ko-KR" dirty="0"/>
              <a:t>: 1024): </a:t>
            </a:r>
            <a:r>
              <a:rPr lang="ko-KR" altLang="en-US" dirty="0"/>
              <a:t>한번의 업데이트를 위해 </a:t>
            </a:r>
            <a:r>
              <a:rPr lang="en-US" altLang="ko-KR" dirty="0"/>
              <a:t>1024</a:t>
            </a:r>
            <a:r>
              <a:rPr lang="ko-KR" altLang="en-US" dirty="0"/>
              <a:t>스텝의 데이터를 모아서 평균적인 이득을 계산함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Large Batch(</a:t>
            </a:r>
            <a:r>
              <a:rPr lang="en-US" altLang="ko-KR" dirty="0" err="1"/>
              <a:t>batch_size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2048,</a:t>
            </a:r>
            <a:r>
              <a:rPr lang="ko-KR" altLang="en-US" dirty="0"/>
              <a:t> </a:t>
            </a:r>
            <a:r>
              <a:rPr lang="en-US" altLang="ko-KR" dirty="0" err="1"/>
              <a:t>n_epochs</a:t>
            </a:r>
            <a:r>
              <a:rPr lang="en-US" altLang="ko-KR" dirty="0"/>
              <a:t>: 10): </a:t>
            </a:r>
            <a:r>
              <a:rPr lang="ko-KR" altLang="en-US" dirty="0"/>
              <a:t>수집된 대량의 데이터를 </a:t>
            </a:r>
            <a:r>
              <a:rPr lang="en-US" altLang="ko-KR" dirty="0"/>
              <a:t>10</a:t>
            </a:r>
            <a:r>
              <a:rPr lang="ko-KR" altLang="en-US" dirty="0"/>
              <a:t>번 </a:t>
            </a:r>
            <a:r>
              <a:rPr lang="ko-KR" altLang="en-US" dirty="0" err="1"/>
              <a:t>반복학습하여</a:t>
            </a:r>
            <a:r>
              <a:rPr lang="ko-KR" altLang="en-US" dirty="0"/>
              <a:t> 현재 수립한 정책을 확실하게 다짐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Regularization(</a:t>
            </a:r>
            <a:r>
              <a:rPr lang="en-US" altLang="ko-KR" dirty="0" err="1"/>
              <a:t>ent_coef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0.01):</a:t>
            </a:r>
            <a:r>
              <a:rPr lang="ko-KR" altLang="en-US" dirty="0"/>
              <a:t> 엔트로피에 보너스를 줘서 초기에 너무 빨리 특정 전략으로 굳어지는 것을 방지함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Constraints(</a:t>
            </a:r>
            <a:r>
              <a:rPr lang="en-US" altLang="ko-KR" dirty="0" err="1"/>
              <a:t>max_grad_norm</a:t>
            </a:r>
            <a:r>
              <a:rPr lang="en-US" altLang="ko-KR" dirty="0"/>
              <a:t>: 0.5): </a:t>
            </a:r>
            <a:r>
              <a:rPr lang="ko-KR" altLang="en-US" dirty="0"/>
              <a:t>학습 과정에서 기울기의 크기가 </a:t>
            </a:r>
            <a:r>
              <a:rPr lang="en-US" altLang="ko-KR" dirty="0"/>
              <a:t>0.5</a:t>
            </a:r>
            <a:r>
              <a:rPr lang="ko-KR" altLang="en-US" dirty="0"/>
              <a:t>를 넘으면 강제로 </a:t>
            </a:r>
            <a:r>
              <a:rPr lang="ko-KR" altLang="en-US" dirty="0" err="1"/>
              <a:t>잘라냄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DQN </a:t>
            </a:r>
            <a:r>
              <a:rPr lang="ko-KR" altLang="en-US" dirty="0"/>
              <a:t>대비 매우 엄격한 설정이며 불확실한 보상을 회피하는 특성을 </a:t>
            </a:r>
            <a:r>
              <a:rPr lang="ko-KR" altLang="en-US" dirty="0" err="1"/>
              <a:t>극대화시킴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618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58D28-FAF9-89BA-17BD-576134D3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Experimental Procedure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B1431-6798-00CD-A544-A76CBE4F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Curriculum Learning</a:t>
            </a:r>
            <a:r>
              <a:rPr lang="ko-KR" altLang="en-US" dirty="0"/>
              <a:t>을 이용하여 초반 승률이 </a:t>
            </a:r>
            <a:r>
              <a:rPr lang="en-US" altLang="ko-KR" dirty="0"/>
              <a:t>90%</a:t>
            </a:r>
            <a:r>
              <a:rPr lang="ko-KR" altLang="en-US" dirty="0"/>
              <a:t>가 넘을 때까지 랜덤 봇과 경쟁하여 학습을 진행함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매 게임마다 성향이 달라지는 </a:t>
            </a:r>
            <a:r>
              <a:rPr lang="en-US" altLang="ko-KR" dirty="0" err="1"/>
              <a:t>Heuristic_bot</a:t>
            </a:r>
            <a:r>
              <a:rPr lang="ko-KR" altLang="en-US" dirty="0"/>
              <a:t>과의 경쟁으로 학습함</a:t>
            </a:r>
            <a:r>
              <a:rPr lang="en-US" altLang="ko-KR" dirty="0"/>
              <a:t>. </a:t>
            </a:r>
            <a:r>
              <a:rPr lang="ko-KR" altLang="en-US" dirty="0"/>
              <a:t>승률이 일정 이상 찍고 수렴할 때까지 학습을 시킴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학습이 완료된 두 모델을 </a:t>
            </a:r>
            <a:r>
              <a:rPr lang="en-US" altLang="ko-KR" dirty="0"/>
              <a:t>estimate.py</a:t>
            </a:r>
            <a:r>
              <a:rPr lang="ko-KR" altLang="en-US" dirty="0"/>
              <a:t>를 이용하여 서로 경쟁시키고 결과물을 이미지화해서 출력함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3183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F3CEF-CDE9-97A7-7966-B5C6A54A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D8317-EFD7-D981-D0FA-52EBEC3D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실제 행동의 분포는 다음과 같다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2296C7-7035-053A-9D63-4348FA5A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481" y="2055228"/>
            <a:ext cx="8625038" cy="431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2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8F774-6E6B-3D07-5AAF-BEE543A9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779D7-29B9-70DB-D1C7-E2A1E1EE4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승률 비율은 다음과 같다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7A3473-9F8A-EC6C-E747-9FD43238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76" y="1964706"/>
            <a:ext cx="6477801" cy="485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64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39084-0FF2-F03D-FA5C-EB913B32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BFC1D-DD7F-0FED-3184-974728BC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557C6-759A-B44D-1BD0-D815ED31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승리에 걸린 턴 수는 다음과 같다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A3D2D2-E3C3-6F35-1675-FA80344C7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800" y="2149716"/>
            <a:ext cx="7162399" cy="429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10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F7C7C-EB9D-B560-72B8-12DFD0DA5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F0FBC-92E2-27A6-8961-0B5E0AB45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DQN</a:t>
            </a:r>
            <a:r>
              <a:rPr lang="ko-KR" altLang="en-US" dirty="0"/>
              <a:t>의 턴별 행동 비율은 다음과 같다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24356F-B0B9-783D-A13F-14BE3DB7B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12" y="1944937"/>
            <a:ext cx="9134375" cy="456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9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39455-5DE0-DA33-FE78-B669F5FE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5C9358-762F-0693-B502-8F2984242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PPO</a:t>
            </a:r>
            <a:r>
              <a:rPr lang="ko-KR" altLang="en-US" dirty="0"/>
              <a:t>의 턴당 행동 비율은 다음과 같다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5354FE-D8EC-4726-B01E-678E1754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606" y="2134235"/>
            <a:ext cx="8986787" cy="449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90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FBD1-22DC-BAD6-1C87-9249838C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F96CA-F258-5C22-21A4-EF62C042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52282-739E-6533-E96D-6534C11AB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359"/>
            <a:ext cx="10515600" cy="4591604"/>
          </a:xfrm>
        </p:spPr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모델별</a:t>
            </a:r>
            <a:r>
              <a:rPr lang="ko-KR" altLang="en-US" dirty="0"/>
              <a:t> 점수 분포도이다</a:t>
            </a:r>
            <a:r>
              <a:rPr lang="en-US" altLang="ko-KR" dirty="0"/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782447-B706-2ADC-B6FF-A5C0C6FB9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58" y="1950269"/>
            <a:ext cx="7772683" cy="466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21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7E1C-C72B-ED2E-2FF1-0F01AA02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25238-61F0-FA06-098D-F7B9B17D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E0D50-6A52-FF8B-4D80-EED7163F7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776" y="1585359"/>
            <a:ext cx="10372023" cy="4591604"/>
          </a:xfrm>
        </p:spPr>
        <p:txBody>
          <a:bodyPr/>
          <a:lstStyle/>
          <a:p>
            <a:r>
              <a:rPr lang="ko-KR" altLang="en-US" dirty="0"/>
              <a:t>각 모델의 </a:t>
            </a:r>
            <a:r>
              <a:rPr lang="ko-KR" altLang="en-US" dirty="0" err="1"/>
              <a:t>티어별</a:t>
            </a:r>
            <a:r>
              <a:rPr lang="ko-KR" altLang="en-US" dirty="0"/>
              <a:t> 카드 구매 횟수이다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06452F-3465-B505-6642-D5CD17071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159" y="1913983"/>
            <a:ext cx="7223359" cy="433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5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2E42-3198-558B-6D25-990231E3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819C2-C71A-D92D-3266-FB5D78DFC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3E18B-C87E-78CA-0BE9-83505B446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모델의 귀족 구매 횟수이다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3B847B-40C2-A59B-3FA1-11F45B4CE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800" y="1969808"/>
            <a:ext cx="7162399" cy="429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03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1780-067B-C621-BFDC-71167537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B00D6-0E53-34FA-97F1-2FA1A274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Interpretation of Results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E50799-F18F-1483-4DB0-591A90BF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실제 행동 및 승률</a:t>
            </a:r>
            <a:r>
              <a:rPr lang="en-US" altLang="ko-KR" dirty="0"/>
              <a:t>, </a:t>
            </a:r>
            <a:r>
              <a:rPr lang="ko-KR" altLang="en-US" dirty="0"/>
              <a:t>승리까지 걸린 턴 수에는 두 모델의 차이점이 보이지 않았다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점수 분포 및 카드의 구매 빈도</a:t>
            </a:r>
            <a:r>
              <a:rPr lang="en-US" altLang="ko-KR" dirty="0"/>
              <a:t>, </a:t>
            </a:r>
            <a:r>
              <a:rPr lang="ko-KR" altLang="en-US" dirty="0"/>
              <a:t>귀족의 구매 횟수로 우리가 설정한 가설과 일치한 결과가 나왔다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DQN(Risk-Seeking)</a:t>
            </a:r>
          </a:p>
          <a:p>
            <a:pPr lvl="1"/>
            <a:r>
              <a:rPr lang="en-US" altLang="ko-KR" dirty="0"/>
              <a:t>DQN</a:t>
            </a:r>
            <a:r>
              <a:rPr lang="ko-KR" altLang="en-US" dirty="0"/>
              <a:t>의 카드 구매는 </a:t>
            </a:r>
            <a:r>
              <a:rPr lang="en-US" altLang="ko-KR" dirty="0"/>
              <a:t>PPO</a:t>
            </a:r>
            <a:r>
              <a:rPr lang="ko-KR" altLang="en-US" dirty="0"/>
              <a:t>에 비해 </a:t>
            </a:r>
            <a:r>
              <a:rPr lang="en-US" altLang="ko-KR" dirty="0"/>
              <a:t>Tier 1</a:t>
            </a:r>
            <a:r>
              <a:rPr lang="ko-KR" altLang="en-US" dirty="0"/>
              <a:t>에 </a:t>
            </a:r>
            <a:r>
              <a:rPr lang="ko-KR" altLang="en-US" dirty="0" err="1"/>
              <a:t>몰려있는</a:t>
            </a:r>
            <a:r>
              <a:rPr lang="ko-KR" altLang="en-US" dirty="0"/>
              <a:t> 것을 확인 가능하다</a:t>
            </a:r>
            <a:r>
              <a:rPr lang="en-US" altLang="ko-KR" dirty="0"/>
              <a:t>. Splendor</a:t>
            </a:r>
            <a:r>
              <a:rPr lang="ko-KR" altLang="en-US" dirty="0"/>
              <a:t>에서 </a:t>
            </a:r>
            <a:r>
              <a:rPr lang="en-US" altLang="ko-KR" dirty="0"/>
              <a:t>Tier 1 </a:t>
            </a:r>
            <a:r>
              <a:rPr lang="ko-KR" altLang="en-US" dirty="0"/>
              <a:t>카드는 점수가 </a:t>
            </a:r>
            <a:r>
              <a:rPr lang="en-US" altLang="ko-KR" dirty="0"/>
              <a:t>0</a:t>
            </a:r>
            <a:r>
              <a:rPr lang="ko-KR" altLang="en-US" dirty="0"/>
              <a:t>점인 카드가 대다수로</a:t>
            </a:r>
            <a:r>
              <a:rPr lang="en-US" altLang="ko-KR" dirty="0"/>
              <a:t> </a:t>
            </a:r>
            <a:r>
              <a:rPr lang="ko-KR" altLang="en-US" dirty="0" err="1"/>
              <a:t>구성되어있다</a:t>
            </a:r>
            <a:r>
              <a:rPr lang="en-US" altLang="ko-KR" dirty="0"/>
              <a:t>. </a:t>
            </a:r>
            <a:r>
              <a:rPr lang="ko-KR" altLang="en-US" dirty="0"/>
              <a:t>이는 현재의 득점 기회를 포기하고 미래의 구매력에 베팅하는 행위와 같다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또한</a:t>
            </a:r>
            <a:r>
              <a:rPr lang="en-US" altLang="ko-KR" dirty="0"/>
              <a:t>, Return Gems</a:t>
            </a:r>
            <a:r>
              <a:rPr lang="ko-KR" altLang="en-US" dirty="0"/>
              <a:t> 행동을 </a:t>
            </a:r>
            <a:r>
              <a:rPr lang="en-US" altLang="ko-KR" dirty="0"/>
              <a:t>PPO</a:t>
            </a:r>
            <a:r>
              <a:rPr lang="ko-KR" altLang="en-US" dirty="0"/>
              <a:t>에 비해 유의미하게 많이 하는데</a:t>
            </a:r>
            <a:r>
              <a:rPr lang="en-US" altLang="ko-KR" dirty="0"/>
              <a:t>, </a:t>
            </a:r>
            <a:r>
              <a:rPr lang="ko-KR" altLang="en-US" dirty="0"/>
              <a:t>이는 턴을 낭비하더라도 끝까지 자원을 모아 비싼 카드를 사겠다는 욕심</a:t>
            </a:r>
            <a:r>
              <a:rPr lang="en-US" altLang="ko-KR" dirty="0"/>
              <a:t>(High Return)</a:t>
            </a:r>
            <a:r>
              <a:rPr lang="ko-KR" altLang="en-US" dirty="0"/>
              <a:t>으로도 해석 가능하다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DQN</a:t>
            </a:r>
            <a:r>
              <a:rPr lang="ko-KR" altLang="en-US" dirty="0"/>
              <a:t>의 끝은 귀족으로</a:t>
            </a:r>
            <a:r>
              <a:rPr lang="en-US" altLang="ko-KR" dirty="0"/>
              <a:t>, DQN</a:t>
            </a:r>
            <a:r>
              <a:rPr lang="ko-KR" altLang="en-US" dirty="0"/>
              <a:t>이 귀족을 </a:t>
            </a:r>
            <a:r>
              <a:rPr lang="en-US" altLang="ko-KR" dirty="0"/>
              <a:t>2</a:t>
            </a:r>
            <a:r>
              <a:rPr lang="ko-KR" altLang="en-US" dirty="0"/>
              <a:t>명 이상 획득한 횟수가 </a:t>
            </a:r>
            <a:r>
              <a:rPr lang="en-US" altLang="ko-KR" dirty="0"/>
              <a:t>PPO</a:t>
            </a:r>
            <a:r>
              <a:rPr lang="ko-KR" altLang="en-US" dirty="0"/>
              <a:t>에 비해 압도적으로 많다</a:t>
            </a:r>
            <a:r>
              <a:rPr lang="en-US" altLang="ko-KR" dirty="0"/>
              <a:t>. 1</a:t>
            </a:r>
            <a:r>
              <a:rPr lang="ko-KR" altLang="en-US" dirty="0"/>
              <a:t>단계 카드를 모아 폭발적인 득점을 한번에 </a:t>
            </a:r>
            <a:r>
              <a:rPr lang="ko-KR" altLang="en-US" dirty="0" err="1"/>
              <a:t>얻으려고하는</a:t>
            </a:r>
            <a:r>
              <a:rPr lang="ko-KR" altLang="en-US" dirty="0"/>
              <a:t> 전형적인 고점 지향형 플레이를 확인할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482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CC11B-E49C-5D09-1B26-6FF294E1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Interpretation of Results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8B263-225F-525C-7445-AA3F75E29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PPO(Risk-Averse)</a:t>
            </a:r>
          </a:p>
          <a:p>
            <a:pPr lvl="1"/>
            <a:r>
              <a:rPr lang="en-US" altLang="ko-KR" dirty="0"/>
              <a:t>DQN</a:t>
            </a:r>
            <a:r>
              <a:rPr lang="ko-KR" altLang="en-US" dirty="0"/>
              <a:t>에 비해 </a:t>
            </a:r>
            <a:r>
              <a:rPr lang="en-US" altLang="ko-KR" dirty="0"/>
              <a:t>2</a:t>
            </a:r>
            <a:r>
              <a:rPr lang="ko-KR" altLang="en-US" dirty="0" err="1"/>
              <a:t>티어</a:t>
            </a:r>
            <a:r>
              <a:rPr lang="ko-KR" altLang="en-US" dirty="0"/>
              <a:t> 카드의 구매를 유의미하게 더 많이 하는 것을 확인할 수 있다</a:t>
            </a:r>
            <a:r>
              <a:rPr lang="en-US" altLang="ko-KR" dirty="0"/>
              <a:t>. 1</a:t>
            </a:r>
            <a:r>
              <a:rPr lang="ko-KR" altLang="en-US" dirty="0"/>
              <a:t>단계 카드를 통해 할인을 챙기는 것보단</a:t>
            </a:r>
            <a:r>
              <a:rPr lang="en-US" altLang="ko-KR" dirty="0"/>
              <a:t>, </a:t>
            </a:r>
            <a:r>
              <a:rPr lang="ko-KR" altLang="en-US" dirty="0"/>
              <a:t>비용이 들더라도 지금 당장 점수를 획득하는 것이 패배 리스크를 줄이는 가장 확실한 방법이라고 판단한 것이다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또한</a:t>
            </a:r>
            <a:r>
              <a:rPr lang="en-US" altLang="ko-KR" dirty="0"/>
              <a:t>, DQN</a:t>
            </a:r>
            <a:r>
              <a:rPr lang="ko-KR" altLang="en-US" dirty="0"/>
              <a:t>에 비해 귀족을 선호하지 않는데</a:t>
            </a:r>
            <a:r>
              <a:rPr lang="en-US" altLang="ko-KR" dirty="0"/>
              <a:t>, </a:t>
            </a:r>
            <a:r>
              <a:rPr lang="ko-KR" altLang="en-US" dirty="0"/>
              <a:t>귀족을 노리면서 </a:t>
            </a:r>
            <a:r>
              <a:rPr lang="en-US" altLang="ko-KR" dirty="0"/>
              <a:t>1</a:t>
            </a:r>
            <a:r>
              <a:rPr lang="ko-KR" altLang="en-US" dirty="0" err="1"/>
              <a:t>티어의</a:t>
            </a:r>
            <a:r>
              <a:rPr lang="ko-KR" altLang="en-US" dirty="0"/>
              <a:t> 카드를 사는 것은 불확실한 미래의 값을 얻는다고 판단하였음을 확인 가능하다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Conclusion</a:t>
            </a:r>
          </a:p>
          <a:p>
            <a:pPr lvl="1"/>
            <a:r>
              <a:rPr lang="ko-KR" altLang="en-US" dirty="0"/>
              <a:t>두 모델의 결과를 토대로</a:t>
            </a:r>
            <a:r>
              <a:rPr lang="en-US" altLang="ko-KR" dirty="0"/>
              <a:t>, </a:t>
            </a:r>
            <a:r>
              <a:rPr lang="ko-KR" altLang="en-US" dirty="0"/>
              <a:t>리스크 지향적 플레이는 </a:t>
            </a:r>
            <a:r>
              <a:rPr lang="en-US" altLang="ko-KR" dirty="0"/>
              <a:t>1tier -&gt; 3tier&amp;noble </a:t>
            </a:r>
            <a:r>
              <a:rPr lang="ko-KR" altLang="en-US" dirty="0" err="1"/>
              <a:t>테크트리이며</a:t>
            </a:r>
            <a:r>
              <a:rPr lang="ko-KR" altLang="en-US" dirty="0"/>
              <a:t> 리스크 회피적 플레이는 </a:t>
            </a:r>
            <a:r>
              <a:rPr lang="en-US" altLang="ko-KR" dirty="0"/>
              <a:t>1, 2 tier -&gt; 3tier </a:t>
            </a:r>
            <a:r>
              <a:rPr lang="ko-KR" altLang="en-US" dirty="0" err="1"/>
              <a:t>테크트리임을</a:t>
            </a:r>
            <a:r>
              <a:rPr lang="ko-KR" altLang="en-US" dirty="0"/>
              <a:t> 확인할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ko-KR" altLang="en-US" dirty="0" err="1"/>
              <a:t>테크트리의</a:t>
            </a:r>
            <a:r>
              <a:rPr lang="ko-KR" altLang="en-US" dirty="0"/>
              <a:t> 결과물은 승률 분포도에서 확인 가능한데 전자의 경우 제대로 터지면 매우 높은 고점을 노릴 수 있지만 후자의 경우 안정적인 </a:t>
            </a:r>
            <a:r>
              <a:rPr lang="en-US" altLang="ko-KR" dirty="0"/>
              <a:t>15</a:t>
            </a:r>
            <a:r>
              <a:rPr lang="ko-KR" altLang="en-US" dirty="0"/>
              <a:t>점 취득이 가능함을 확인할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3436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BE660-FFB4-0948-E6C5-04543101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Further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D5E0B-12F4-A25A-9986-607AFCF2B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프로젝트에서는 귀족을 선택하여 구매하는 것이 아닌 가능한 가장 앞의 귀족을 구매하도록 하였다</a:t>
            </a:r>
            <a:r>
              <a:rPr lang="en-US" altLang="ko-KR" dirty="0"/>
              <a:t>. </a:t>
            </a:r>
            <a:r>
              <a:rPr lang="ko-KR" altLang="en-US" dirty="0"/>
              <a:t>전자의 경우 탐색 공간이 너무 넓어지기에 후자와 같이 구현하였다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연계 실험으로</a:t>
            </a:r>
            <a:r>
              <a:rPr lang="en-US" altLang="ko-KR" dirty="0"/>
              <a:t>, Self-Play</a:t>
            </a:r>
            <a:r>
              <a:rPr lang="ko-KR" altLang="en-US" dirty="0"/>
              <a:t>로 자기 자신과 학습시켜 </a:t>
            </a:r>
            <a:r>
              <a:rPr lang="en-US" altLang="ko-KR" dirty="0"/>
              <a:t>Nash Equilibrium</a:t>
            </a:r>
            <a:r>
              <a:rPr lang="ko-KR" altLang="en-US" dirty="0"/>
              <a:t>에 도달하게 된다면 두 모델의 행위가 거의 완전히 동일해 지는가</a:t>
            </a:r>
            <a:r>
              <a:rPr lang="en-US" altLang="ko-KR" dirty="0"/>
              <a:t>? </a:t>
            </a:r>
            <a:r>
              <a:rPr lang="ko-KR" altLang="en-US" dirty="0"/>
              <a:t>를 </a:t>
            </a:r>
            <a:r>
              <a:rPr lang="ko-KR" altLang="en-US" dirty="0" err="1"/>
              <a:t>기획중이었다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가설이 타당하다면</a:t>
            </a:r>
            <a:r>
              <a:rPr lang="en-US" altLang="ko-KR" dirty="0"/>
              <a:t>, </a:t>
            </a:r>
            <a:r>
              <a:rPr lang="ko-KR" altLang="en-US" dirty="0"/>
              <a:t>그 정책이 진 최적정책인지 검증하기 위해 기존의 </a:t>
            </a:r>
            <a:r>
              <a:rPr lang="en-US" altLang="ko-KR" dirty="0"/>
              <a:t>PPO/DQN</a:t>
            </a:r>
            <a:r>
              <a:rPr lang="ko-KR" altLang="en-US" dirty="0"/>
              <a:t>과의 대국을 하여 결과를 보고</a:t>
            </a:r>
            <a:r>
              <a:rPr lang="en-US" altLang="ko-KR" dirty="0"/>
              <a:t> </a:t>
            </a:r>
            <a:r>
              <a:rPr lang="ko-KR" altLang="en-US" dirty="0"/>
              <a:t>어떤 전략이 더 최적 전략에 가까웠는지 또한 탐구해보고자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154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8D345A4-3B7A-75EE-3E34-6FC4FD95C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End of Slide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D852ED49-AC2F-A3F9-BACC-D615956C5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읽어 주셔서 감사합니다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B62A5E7-19D5-E0D5-7EA9-E3D1B39264A4}"/>
              </a:ext>
            </a:extLst>
          </p:cNvPr>
          <p:cNvCxnSpPr/>
          <p:nvPr/>
        </p:nvCxnSpPr>
        <p:spPr>
          <a:xfrm>
            <a:off x="1711175" y="3454813"/>
            <a:ext cx="87696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971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Noto Sans KR Medium"/>
        <a:ea typeface="Noto Sans KR Medium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1256</Words>
  <Application>Microsoft Office PowerPoint</Application>
  <PresentationFormat>와이드스크린</PresentationFormat>
  <Paragraphs>94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Noto Sans KR</vt:lpstr>
      <vt:lpstr>Noto Sans KR Medium</vt:lpstr>
      <vt:lpstr>Arial</vt:lpstr>
      <vt:lpstr>Cambria Math</vt:lpstr>
      <vt:lpstr>Office 테마</vt:lpstr>
      <vt:lpstr>알고리즘별 리스크 성향에 기반한 게임 전략 추출: On-Policy VS Off-Policy</vt:lpstr>
      <vt:lpstr>Overview</vt:lpstr>
      <vt:lpstr>Hypothesis and Theoretical Background</vt:lpstr>
      <vt:lpstr>Experiment Setup</vt:lpstr>
      <vt:lpstr>Experiment Setup</vt:lpstr>
      <vt:lpstr>Algorithm Configuration</vt:lpstr>
      <vt:lpstr>Algorithm Configuration</vt:lpstr>
      <vt:lpstr>Experimental Procedure</vt:lpstr>
      <vt:lpstr>Experiment Result</vt:lpstr>
      <vt:lpstr>Experiment Result</vt:lpstr>
      <vt:lpstr>Experiment Result</vt:lpstr>
      <vt:lpstr>Experiment Result</vt:lpstr>
      <vt:lpstr>Experiment Result</vt:lpstr>
      <vt:lpstr>Experiment Result</vt:lpstr>
      <vt:lpstr>Experiment Result</vt:lpstr>
      <vt:lpstr>Experiment Result</vt:lpstr>
      <vt:lpstr>Interpretation of Results</vt:lpstr>
      <vt:lpstr>Interpretation of Results</vt:lpstr>
      <vt:lpstr>Further</vt:lpstr>
      <vt:lpstr>End of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COPREA ATER</dc:creator>
  <cp:lastModifiedBy>COPREA ATER</cp:lastModifiedBy>
  <cp:revision>1</cp:revision>
  <dcterms:created xsi:type="dcterms:W3CDTF">2025-12-07T02:21:32Z</dcterms:created>
  <dcterms:modified xsi:type="dcterms:W3CDTF">2025-12-07T05:09:12Z</dcterms:modified>
</cp:coreProperties>
</file>